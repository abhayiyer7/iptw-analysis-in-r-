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6" r:id="rId4"/>
    <p:sldId id="267" r:id="rId5"/>
    <p:sldId id="257" r:id="rId6"/>
    <p:sldId id="258" r:id="rId7"/>
    <p:sldId id="268" r:id="rId8"/>
    <p:sldId id="269" r:id="rId9"/>
    <p:sldId id="271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84"/>
    <p:restoredTop sz="94667"/>
  </p:normalViewPr>
  <p:slideViewPr>
    <p:cSldViewPr snapToGrid="0">
      <p:cViewPr varScale="1">
        <p:scale>
          <a:sx n="106" d="100"/>
          <a:sy n="106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3041F-7730-5F7F-29A6-DBBECF223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6BC10-0E9C-C4F4-F4C9-16BB7C581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A3130-BA94-195D-47EF-8E1F42EF5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CB10-9E5F-0E43-A660-8591830EA763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05B92-E033-AE92-33BC-0E9A33B74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22BC9-999D-0B0B-FC7C-BB24A7CA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B21C-743A-A741-A975-537DDBBB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79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773F9-0497-FD5E-B7BE-54A5E1BAF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3878B-6941-6452-FBC4-851F01FB9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8C71D-4E01-22FA-5FF3-FFB4ACC90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CB10-9E5F-0E43-A660-8591830EA763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BC826-CC7F-260A-55E7-6A462A46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49872-C83D-980C-C667-9DBD2471C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B21C-743A-A741-A975-537DDBBB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7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D77CE-6009-44F9-62F3-136FD5ED1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C1C8C-FBDB-CF0E-B927-1CFAC2A92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87337-C67F-C107-A86C-A3002CCD1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CB10-9E5F-0E43-A660-8591830EA763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43883-C842-A05B-F797-8D992BCD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15F57-F1BA-40E6-8452-8C861E125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B21C-743A-A741-A975-537DDBBB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1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70616-BE2A-FA64-DE15-F786E3CB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943-CB1B-E893-9172-E36E8D588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07AE8-7500-5DD9-A11B-1B2B56504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737FF-A604-868B-9CD2-0E96E9FCF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CB10-9E5F-0E43-A660-8591830EA763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E4E8B-A60F-7710-9D41-B1BA3353E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7AC19-452B-C133-9142-029CC9C90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B21C-743A-A741-A975-537DDBBB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5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A6BFD-93BC-8499-4C0F-AFC2F67FB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40C59-B5D7-E314-5EAA-EF45AE46F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DE2D1-7435-CD70-8437-C9912AD85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42B713-F68F-84FC-CADC-8C011C739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8E0C0D-69C5-D654-874E-BBA2E7AE98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35F1F0-7A26-4B83-AFD2-C28358034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CB10-9E5F-0E43-A660-8591830EA763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FDB999-C48A-BCE9-C9FC-C1915312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9379B-3B43-0376-00BD-C4DD9E53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B21C-743A-A741-A975-537DDBBB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39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D5598-74A0-206B-991B-0F89ED14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BC152-F499-08B0-96BA-62DF5673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CB10-9E5F-0E43-A660-8591830EA763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4CCE0-C35A-0392-FC8B-48536C360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69E09-93E4-F3A0-51A8-670520F1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B21C-743A-A741-A975-537DDBBB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57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D766D-3FD9-0E7C-985E-62B037EFB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CB10-9E5F-0E43-A660-8591830EA763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195749-0991-1E2C-E12C-912F0F89B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AC5ED-1EA0-8B54-00FF-5125247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B21C-743A-A741-A975-537DDBBB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67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B793-CF50-9832-3ABC-A16D8153A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7422C-8EE1-5119-00CB-059A6430B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07DC7-B8E2-C21A-E2EB-12704272A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02F64-894E-58EA-A39C-0E6A4FC58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CB10-9E5F-0E43-A660-8591830EA763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033F1-E3A4-9988-C7B3-40718903D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544C4-0C28-0B60-5A34-8A78A8E0A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B21C-743A-A741-A975-537DDBBB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16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8762-AD62-4D78-42D9-580535D3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E71782-2551-73A7-C614-623D6027E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41C24-BA8B-9F51-1E68-A42DACB5A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B33FC-FC80-A1D2-D38C-44A9B8AE3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CB10-9E5F-0E43-A660-8591830EA763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2F80F-97F2-6E6E-BC6E-62E76BE40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3D136-873B-130B-F1BB-35F37A61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B21C-743A-A741-A975-537DDBBB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6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4812-3E70-4555-AEC1-940376528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D52A9-0984-5A0F-085C-F1E9016FF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0FE1D-E8ED-C370-6186-B6124BBF6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CB10-9E5F-0E43-A660-8591830EA763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8B288-4F58-7B6B-37C1-5846B4620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A24A8-EF84-1EA8-8488-B5656ACD1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B21C-743A-A741-A975-537DDBBB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15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675F02-769C-82DB-0711-75361435B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CC7457-EBB9-8B01-06C4-A16D35F84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35CC4-E5C3-19CD-3C3A-4CE30FFF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CB10-9E5F-0E43-A660-8591830EA763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2C059-2949-5827-D7AF-534867C72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015ED-9962-AB46-E0E3-285671775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9B21C-743A-A741-A975-537DDBBB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70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EEB632-4354-3EEF-C865-58CECE3EB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12496-DD9F-DBB8-9EB8-293C2151D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8229D-8D35-FE52-DCB1-1CDBC318B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41CB10-9E5F-0E43-A660-8591830EA763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7475B-DB60-8A7A-6CCF-4F9B897D2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700A9-8626-96B3-3071-F5AFE3A0E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A9B21C-743A-A741-A975-537DDBBB1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2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71D24-FE3F-E2E4-F00A-4A9B88BF44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000000"/>
                </a:solidFill>
              </a:rPr>
              <a:t>Inverse Probability of Treatment Weighting (</a:t>
            </a:r>
            <a:r>
              <a:rPr lang="en-US" dirty="0"/>
              <a:t>IPTW) Analysis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08F3320-344A-680A-C1C7-9380407E25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Assignment for Coursera’s </a:t>
            </a:r>
            <a:r>
              <a:rPr lang="en-IN" dirty="0"/>
              <a:t>A Crash Course in Causality: Inferring Causal Effects from Observational Data course.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965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13DC-51D4-CE4E-9C5E-2B500546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873"/>
            <a:ext cx="10515600" cy="1325563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BCC2B-7DA3-9069-5322-E57E78CFA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914"/>
            <a:ext cx="10515600" cy="541421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Dataset: </a:t>
            </a:r>
            <a:r>
              <a:rPr lang="en-IN" dirty="0"/>
              <a:t>Lalonde Dataset</a:t>
            </a:r>
          </a:p>
          <a:p>
            <a:endParaRPr lang="en-IN" dirty="0"/>
          </a:p>
          <a:p>
            <a:r>
              <a:rPr lang="en-IN" dirty="0"/>
              <a:t>Methods: </a:t>
            </a:r>
            <a:r>
              <a:rPr lang="en-US" altLang="en-US" dirty="0">
                <a:solidFill>
                  <a:srgbClr val="000000"/>
                </a:solidFill>
              </a:rPr>
              <a:t>Inverse Probability of Treatment Weighting (IPTW) using Propensity Scores </a:t>
            </a:r>
            <a:endParaRPr lang="en-IN" dirty="0"/>
          </a:p>
          <a:p>
            <a:endParaRPr lang="en-IN" dirty="0"/>
          </a:p>
          <a:p>
            <a:r>
              <a:rPr lang="en-IN" dirty="0"/>
              <a:t>Libraries Used: </a:t>
            </a:r>
            <a:r>
              <a:rPr lang="en-IN" dirty="0" err="1"/>
              <a:t>tableone</a:t>
            </a:r>
            <a:r>
              <a:rPr lang="en-IN" dirty="0"/>
              <a:t>, </a:t>
            </a:r>
            <a:r>
              <a:rPr lang="en-IN" dirty="0" err="1"/>
              <a:t>ipw</a:t>
            </a:r>
            <a:r>
              <a:rPr lang="en-IN" dirty="0"/>
              <a:t>, survey, matching, </a:t>
            </a:r>
            <a:r>
              <a:rPr lang="en-IN" dirty="0" err="1"/>
              <a:t>MatchIt</a:t>
            </a:r>
            <a:endParaRPr lang="en-IN" dirty="0"/>
          </a:p>
          <a:p>
            <a:endParaRPr lang="en-IN" dirty="0"/>
          </a:p>
          <a:p>
            <a:r>
              <a:rPr lang="en-US" dirty="0"/>
              <a:t>Problem: </a:t>
            </a:r>
            <a:r>
              <a:rPr lang="en-IN" dirty="0"/>
              <a:t>Estimate the true impact of a job training program on earnings of the participants in the year 1978</a:t>
            </a:r>
          </a:p>
          <a:p>
            <a:endParaRPr lang="en-IN" dirty="0"/>
          </a:p>
          <a:p>
            <a:r>
              <a:rPr lang="en-IN" dirty="0"/>
              <a:t>Total Participants: 614 (429 in control, 185 in treatment)</a:t>
            </a:r>
          </a:p>
          <a:p>
            <a:endParaRPr lang="en-IN" dirty="0"/>
          </a:p>
          <a:p>
            <a:r>
              <a:rPr lang="en-IN" dirty="0"/>
              <a:t>8 variables (excluding treatment)</a:t>
            </a: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580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EC00-3424-036E-10BC-A56F6EEA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B6017-01C3-8112-63BA-8995BCE4E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Null Hypothesis: The job training program does not impact participant’s income.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  <a:p>
            <a:pPr algn="just"/>
            <a:r>
              <a:rPr lang="en-IN" dirty="0"/>
              <a:t>Alternative Hypothesis: The job training program results in </a:t>
            </a:r>
            <a:r>
              <a:rPr lang="en-US" altLang="en-US" dirty="0">
                <a:solidFill>
                  <a:srgbClr val="000000"/>
                </a:solidFill>
              </a:rPr>
              <a:t>statistically significant difference in the 1978 mean earnings between the treated and control groups.</a:t>
            </a:r>
            <a:endParaRPr lang="en-US" alt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871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877C4-9280-BFB8-2A48-2C55E176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679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Weighting Approach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82273B-0666-0CD5-A49E-547988B873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36132" y="2115701"/>
            <a:ext cx="751973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Treated subjects weighted by 1/PS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Control subjects weighted by 1/(1−PS).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3750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235EE-FAA0-5C17-90DD-7D1FC873E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Distribution of propensity scores for treated and control groups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E86BA-D955-A074-23C0-A20CD628C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71082"/>
            <a:ext cx="5278664" cy="40150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7CD550-98D7-A335-7412-DEF6481FD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135" y="2387123"/>
            <a:ext cx="5278665" cy="40150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E4378F-EDC8-9C4E-1C09-0679F72F0595}"/>
              </a:ext>
            </a:extLst>
          </p:cNvPr>
          <p:cNvSpPr txBox="1"/>
          <p:nvPr/>
        </p:nvSpPr>
        <p:spPr>
          <a:xfrm>
            <a:off x="1892967" y="1802102"/>
            <a:ext cx="7908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GLM: treat ~ age + educ + black + </a:t>
            </a:r>
            <a:r>
              <a:rPr lang="en-US" dirty="0" err="1"/>
              <a:t>hispan</a:t>
            </a:r>
            <a:r>
              <a:rPr lang="en-US" dirty="0"/>
              <a:t> + married + </a:t>
            </a:r>
            <a:r>
              <a:rPr lang="en-US" dirty="0" err="1"/>
              <a:t>nodegree</a:t>
            </a:r>
            <a:r>
              <a:rPr lang="en-US" dirty="0"/>
              <a:t> + re74 + re75</a:t>
            </a:r>
          </a:p>
        </p:txBody>
      </p:sp>
    </p:spTree>
    <p:extLst>
      <p:ext uri="{BB962C8B-B14F-4D97-AF65-F5344CB8AC3E}">
        <p14:creationId xmlns:p14="http://schemas.microsoft.com/office/powerpoint/2010/main" val="1717402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A29B9-5530-A676-AD94-6E17209BD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 of IPTW weights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6D7E0F-8F84-8C13-3719-320856098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584027"/>
              </p:ext>
            </p:extLst>
          </p:nvPr>
        </p:nvGraphicFramePr>
        <p:xfrm>
          <a:off x="3256547" y="1793207"/>
          <a:ext cx="5678906" cy="4260935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2839453">
                  <a:extLst>
                    <a:ext uri="{9D8B030D-6E8A-4147-A177-3AD203B41FA5}">
                      <a16:colId xmlns:a16="http://schemas.microsoft.com/office/drawing/2014/main" val="4278192093"/>
                    </a:ext>
                  </a:extLst>
                </a:gridCol>
                <a:gridCol w="2839453">
                  <a:extLst>
                    <a:ext uri="{9D8B030D-6E8A-4147-A177-3AD203B41FA5}">
                      <a16:colId xmlns:a16="http://schemas.microsoft.com/office/drawing/2014/main" val="1356916793"/>
                    </a:ext>
                  </a:extLst>
                </a:gridCol>
              </a:tblGrid>
              <a:tr h="60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Statistic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Value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68125979"/>
                  </a:ext>
                </a:extLst>
              </a:tr>
              <a:tr h="60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Minimum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1.009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43032084"/>
                  </a:ext>
                </a:extLst>
              </a:tr>
              <a:tr h="60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1st Quartile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1.052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20157622"/>
                  </a:ext>
                </a:extLst>
              </a:tr>
              <a:tr h="60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Median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1.170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2721806"/>
                  </a:ext>
                </a:extLst>
              </a:tr>
              <a:tr h="60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Mean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1.905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88456803"/>
                  </a:ext>
                </a:extLst>
              </a:tr>
              <a:tr h="60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3rd Quartile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1.623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68549654"/>
                  </a:ext>
                </a:extLst>
              </a:tr>
              <a:tr h="6087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Maximum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40.077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693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7332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3D81-0C9E-78D0-B965-40A008F36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Distribution of weights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D6CA26-4479-318A-1566-A22469D77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0" y="1690688"/>
            <a:ext cx="6997156" cy="458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29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988EC-DA76-6C68-7B27-B9B984BC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Standardised</a:t>
            </a:r>
            <a:r>
              <a:rPr lang="en-US" dirty="0"/>
              <a:t> mean differences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97495B-6A7D-4C8B-04B7-7E29DEDA3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919540"/>
              </p:ext>
            </p:extLst>
          </p:nvPr>
        </p:nvGraphicFramePr>
        <p:xfrm>
          <a:off x="870284" y="1690688"/>
          <a:ext cx="10515600" cy="429768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6893065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7080563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19121778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7417478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818321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28635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Control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Treated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7436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n (</a:t>
                      </a:r>
                      <a:r>
                        <a:rPr lang="en-IN" b="1" dirty="0">
                          <a:effectLst/>
                        </a:rPr>
                        <a:t>Pseudo-population)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616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553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52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Variable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Mean 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SD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Mean 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SD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SMD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8136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age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27.10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10.80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25.57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6.53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0.172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451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educ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10.29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2.74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10.61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2.05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0.132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5449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black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0.50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0.101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5076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hispan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0.12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0.32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0.12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0.33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0.014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281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married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0.41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0.31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0.47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0.197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356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nodegree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0.62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0.48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0.57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0.50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0.112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112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re74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4552.74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6337.09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2932.18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5709.42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0.269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099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re75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2172.04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3160.14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1658.07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3072.89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0.165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9125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20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54C2704-7DAE-FD56-C150-93CC101B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Average causal effect without truncation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A128301-0945-BC47-EAAF-66FF9D7934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6536" y="1940572"/>
            <a:ext cx="660533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Average Causal Effect (ACE): $224.68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Test Statistic (t): 0.247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P-Value: 0.805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Confidence Interval: 95%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858264-5DB8-64C5-5528-85E8B887B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535" y="5081843"/>
            <a:ext cx="98779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While the job training program resulted in a positive average increase of $224.68 in earnings, the result is not statistically significant (p = 0.805). We fail to reject the null hypothesis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6317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95A6-52BB-9FA4-851E-B830F1823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365125"/>
            <a:ext cx="9718765" cy="1325563"/>
          </a:xfrm>
        </p:spPr>
        <p:txBody>
          <a:bodyPr/>
          <a:lstStyle/>
          <a:p>
            <a:r>
              <a:rPr lang="en-US" dirty="0"/>
              <a:t>Comparison of untruncated and truncated weights at 1</a:t>
            </a:r>
            <a:r>
              <a:rPr lang="en-US" baseline="30000" dirty="0"/>
              <a:t>st</a:t>
            </a:r>
            <a:r>
              <a:rPr lang="en-US" dirty="0"/>
              <a:t> and 99</a:t>
            </a:r>
            <a:r>
              <a:rPr lang="en-US" baseline="30000" dirty="0"/>
              <a:t>th</a:t>
            </a:r>
            <a:r>
              <a:rPr lang="en-US" dirty="0"/>
              <a:t> percentile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8A10DD-D0BC-C0D8-5150-98F2970C1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4" y="1690688"/>
            <a:ext cx="6609806" cy="455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651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28BE-556D-3342-BF57-07AC5DF68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C5914DF-F2C9-A482-0D20-1BA4E7C3D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Average causal effect after truncation of 1</a:t>
            </a:r>
            <a:r>
              <a:rPr lang="en-US" baseline="30000" dirty="0"/>
              <a:t>st</a:t>
            </a:r>
            <a:r>
              <a:rPr lang="en-US" dirty="0"/>
              <a:t> and the 99</a:t>
            </a:r>
            <a:r>
              <a:rPr lang="en-US" baseline="30000" dirty="0"/>
              <a:t>th</a:t>
            </a:r>
            <a:r>
              <a:rPr lang="en-US" dirty="0"/>
              <a:t> percentile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0D707C8-0FFB-39DD-FDD2-FE5B059B4C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6536" y="1940572"/>
            <a:ext cx="660533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Average Causal Effect (ACE): $486.93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Test Statistic (t): 0.605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P-Value: 0.545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Confidence Interval: 95%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F0ED18E-746F-C877-E4B9-60A8CB76A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535" y="5081843"/>
            <a:ext cx="98779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While the job training program resulted in a positive average increase of $486.93 in earnings, the result is not statistically significant (p = 0.545). We fail to reject the null hypothesis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4625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410</Words>
  <Application>Microsoft Macintosh PowerPoint</Application>
  <PresentationFormat>Widescreen</PresentationFormat>
  <Paragraphs>122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Google Sans Text</vt:lpstr>
      <vt:lpstr>Office Theme</vt:lpstr>
      <vt:lpstr>Inverse Probability of Treatment Weighting (IPTW) Analysis</vt:lpstr>
      <vt:lpstr>Background</vt:lpstr>
      <vt:lpstr>Hypothesis</vt:lpstr>
      <vt:lpstr>Weighting Approach </vt:lpstr>
      <vt:lpstr>Distribution of propensity scores for treated and control groups</vt:lpstr>
      <vt:lpstr>Summary of IPTW weights</vt:lpstr>
      <vt:lpstr>Distribution of weights</vt:lpstr>
      <vt:lpstr>Standardised mean differences</vt:lpstr>
      <vt:lpstr>Average causal effect without truncation</vt:lpstr>
      <vt:lpstr>Comparison of untruncated and truncated weights at 1st and 99th percentile</vt:lpstr>
      <vt:lpstr>Average causal effect after truncation of 1st and the 99th percentile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Iyer, Abhay K.</dc:creator>
  <cp:lastModifiedBy>Iyer, Abhay K.</cp:lastModifiedBy>
  <cp:revision>2</cp:revision>
  <dcterms:created xsi:type="dcterms:W3CDTF">2026-05-02T22:49:47Z</dcterms:created>
  <dcterms:modified xsi:type="dcterms:W3CDTF">2026-05-03T10:42:21Z</dcterms:modified>
</cp:coreProperties>
</file>